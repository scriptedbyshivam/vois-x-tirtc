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48" r:id="rId9"/>
    <p:sldId id="302" r:id="rId10"/>
    <p:sldId id="349" r:id="rId11"/>
    <p:sldId id="339" r:id="rId12"/>
    <p:sldId id="340" r:id="rId13"/>
    <p:sldId id="344" r:id="rId14"/>
    <p:sldId id="345" r:id="rId15"/>
    <p:sldId id="346" r:id="rId16"/>
    <p:sldId id="341"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8EF58-C485-52AC-288F-DA497A3C9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7000F-1A46-6434-534B-CD20679BF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BA208-6779-8280-5E61-BA21C8B5E8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963862-98EB-07D8-2B5D-03BF7D19F5C3}"/>
              </a:ext>
            </a:extLst>
          </p:cNvPr>
          <p:cNvSpPr>
            <a:spLocks noGrp="1"/>
          </p:cNvSpPr>
          <p:nvPr>
            <p:ph type="sldNum" sz="quarter" idx="5"/>
          </p:nvPr>
        </p:nvSpPr>
        <p:spPr/>
        <p:txBody>
          <a:bodyPr/>
          <a:lstStyle/>
          <a:p>
            <a:fld id="{8530193B-564F-4854-8A52-728F3FB19C85}" type="slidenum">
              <a:rPr lang="en-US" noProof="0" smtClean="0"/>
              <a:t>7</a:t>
            </a:fld>
            <a:endParaRPr lang="en-US" noProof="0" dirty="0"/>
          </a:p>
        </p:txBody>
      </p:sp>
    </p:spTree>
    <p:extLst>
      <p:ext uri="{BB962C8B-B14F-4D97-AF65-F5344CB8AC3E}">
        <p14:creationId xmlns:p14="http://schemas.microsoft.com/office/powerpoint/2010/main" val="2044379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01415" y="2693580"/>
            <a:ext cx="11162523" cy="1037531"/>
          </a:xfrm>
        </p:spPr>
        <p:txBody>
          <a:bodyPr>
            <a:normAutofit fontScale="90000"/>
          </a:bodyPr>
          <a:lstStyle/>
          <a:p>
            <a:r>
              <a:rPr lang="en-GB" sz="3600" dirty="0"/>
              <a:t>Project Title - </a:t>
            </a:r>
            <a:r>
              <a:rPr lang="en-IN" sz="3200" b="1" dirty="0"/>
              <a:t>Healthcare Analytics for Doctor Visits: An Exploratory Data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01965" y="4835970"/>
            <a:ext cx="5506720" cy="369332"/>
          </a:xfrm>
          <a:prstGeom prst="rect">
            <a:avLst/>
          </a:prstGeom>
          <a:noFill/>
        </p:spPr>
        <p:txBody>
          <a:bodyPr wrap="square" rtlCol="0">
            <a:spAutoFit/>
          </a:bodyPr>
          <a:lstStyle/>
          <a:p>
            <a:r>
              <a:rPr lang="en-US" b="1" dirty="0"/>
              <a:t>AICTE STU ID : STU69ef58f1ec3ba1777293553</a:t>
            </a:r>
          </a:p>
        </p:txBody>
      </p:sp>
      <p:sp>
        <p:nvSpPr>
          <p:cNvPr id="5" name="TextBox 4">
            <a:extLst>
              <a:ext uri="{FF2B5EF4-FFF2-40B4-BE49-F238E27FC236}">
                <a16:creationId xmlns:a16="http://schemas.microsoft.com/office/drawing/2014/main" id="{91EB92CF-0833-EFF2-ED0B-7E9E16CD4C6E}"/>
              </a:ext>
            </a:extLst>
          </p:cNvPr>
          <p:cNvSpPr txBox="1"/>
          <p:nvPr/>
        </p:nvSpPr>
        <p:spPr>
          <a:xfrm>
            <a:off x="3362960" y="3027680"/>
            <a:ext cx="184731" cy="369332"/>
          </a:xfrm>
          <a:prstGeom prst="rect">
            <a:avLst/>
          </a:prstGeom>
          <a:noFill/>
        </p:spPr>
        <p:txBody>
          <a:bodyPr wrap="none" rtlCol="0">
            <a:spAutoFit/>
          </a:bodyPr>
          <a:lstStyle/>
          <a:p>
            <a:endParaRPr lang="en-US" dirty="0"/>
          </a:p>
        </p:txBody>
      </p:sp>
      <p:sp>
        <p:nvSpPr>
          <p:cNvPr id="9" name="Text Placeholder 8">
            <a:extLst>
              <a:ext uri="{FF2B5EF4-FFF2-40B4-BE49-F238E27FC236}">
                <a16:creationId xmlns:a16="http://schemas.microsoft.com/office/drawing/2014/main" id="{C79FC42C-9E36-DF87-18FD-F2C1DFF98408}"/>
              </a:ext>
            </a:extLst>
          </p:cNvPr>
          <p:cNvSpPr>
            <a:spLocks noGrp="1"/>
          </p:cNvSpPr>
          <p:nvPr>
            <p:ph type="body" sz="quarter" idx="11"/>
          </p:nvPr>
        </p:nvSpPr>
        <p:spPr>
          <a:xfrm>
            <a:off x="743966" y="3924002"/>
            <a:ext cx="9771717" cy="924294"/>
          </a:xfrm>
        </p:spPr>
        <p:txBody>
          <a:bodyPr>
            <a:normAutofit/>
          </a:bodyPr>
          <a:lstStyle/>
          <a:p>
            <a:r>
              <a:rPr lang="en-US" dirty="0"/>
              <a:t>Student Name – Shivam Maurya</a:t>
            </a:r>
          </a:p>
          <a:p>
            <a:r>
              <a:rPr lang="en-US" dirty="0">
                <a:solidFill>
                  <a:schemeClr val="tx1">
                    <a:lumMod val="50000"/>
                    <a:lumOff val="50000"/>
                  </a:schemeClr>
                </a:solidFill>
              </a:rPr>
              <a:t>College Name – Arya College Of Engineering</a:t>
            </a:r>
          </a:p>
          <a:p>
            <a:endParaRPr lang="en-US" dirty="0">
              <a:solidFill>
                <a:schemeClr val="tx1">
                  <a:lumMod val="50000"/>
                  <a:lumOff val="50000"/>
                </a:schemeClr>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80392" y="1239520"/>
            <a:ext cx="11831216" cy="5232400"/>
          </a:xfrm>
        </p:spPr>
        <p:txBody>
          <a:bodyPr vert="horz" lIns="91440" tIns="45720" rIns="91440" bIns="45720" rtlCol="0" anchor="t">
            <a:noAutofit/>
          </a:bodyPr>
          <a:lstStyle/>
          <a:p>
            <a:pPr marL="0" indent="0">
              <a:lnSpc>
                <a:spcPct val="100000"/>
              </a:lnSpc>
              <a:buNone/>
            </a:pPr>
            <a:r>
              <a:rPr lang="en-US" sz="1800" dirty="0"/>
              <a:t>Healthcare providers struggle to efficiently allocate resources and predict patient utilization due to a lack of insights into what drives medical behavior. Using a dataset of 5,190 patients, this analysis aims to determine how socioeconomic factors (income, gender) and health conditions (illness scores, chronic status) interactively impact the frequency of doctor visits and overall health outcomes.</a:t>
            </a:r>
            <a:br>
              <a:rPr lang="en-US" sz="1800" dirty="0"/>
            </a:br>
            <a:br>
              <a:rPr lang="en-US" sz="1800" dirty="0"/>
            </a:br>
            <a:r>
              <a:rPr lang="en-US" sz="1800" b="1" dirty="0"/>
              <a:t>Key Focus Areas</a:t>
            </a:r>
            <a:br>
              <a:rPr lang="en-US" sz="1800" dirty="0"/>
            </a:br>
            <a:r>
              <a:rPr lang="en-US" sz="1800" dirty="0"/>
              <a:t>• Socioeconomic Impacts: Investigate why over 50% of the population lacks private insurance despite the majority not qualifying for low-income or elderly government subsidies.</a:t>
            </a:r>
            <a:br>
              <a:rPr lang="en-US" sz="1800" dirty="0"/>
            </a:br>
            <a:r>
              <a:rPr lang="en-US" sz="1800" dirty="0"/>
              <a:t>• Gender and Health Disparities: Address why females report significantly higher average days of reduced activity (~0.98 days) than males (~0.74 days) due to illness.</a:t>
            </a:r>
            <a:br>
              <a:rPr lang="en-US" sz="1800" dirty="0"/>
            </a:br>
            <a:r>
              <a:rPr lang="en-US" sz="1800" dirty="0"/>
              <a:t>• Utilization Drivers: Model the strong correlation between high illness scores, reduced functional days, and the increased frequency of clinical visits.</a:t>
            </a:r>
            <a:br>
              <a:rPr lang="en-US" sz="1800" dirty="0"/>
            </a:br>
            <a:br>
              <a:rPr lang="en-US" sz="1800" dirty="0"/>
            </a:br>
            <a:r>
              <a:rPr lang="en-US" sz="1800" b="1" dirty="0"/>
              <a:t>Goal</a:t>
            </a:r>
            <a:br>
              <a:rPr lang="en-US" sz="1800" dirty="0"/>
            </a:br>
            <a:r>
              <a:rPr lang="en-US" sz="1800" dirty="0"/>
              <a:t>To build a predictive framework that forecasts hospital utilization rates and guides policymakers in creating targeted healthcare interventions and insurance subsidies.</a:t>
            </a:r>
            <a:endParaRPr lang="en-IN" sz="1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550417"/>
            <a:ext cx="7074249" cy="790111"/>
          </a:xfrm>
        </p:spPr>
        <p:txBody>
          <a:bodyPr>
            <a:normAutofit fontScale="90000"/>
          </a:bodyPr>
          <a:lstStyle/>
          <a:p>
            <a:r>
              <a:rPr lang="en-US" dirty="0"/>
              <a:t>PROBLEM  STATEMENT</a:t>
            </a:r>
            <a:endParaRPr lang="en-IN" dirty="0"/>
          </a:p>
        </p:txBody>
      </p:sp>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274321"/>
            <a:ext cx="6276109" cy="965199"/>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9" name="TextBox 8">
            <a:extLst>
              <a:ext uri="{FF2B5EF4-FFF2-40B4-BE49-F238E27FC236}">
                <a16:creationId xmlns:a16="http://schemas.microsoft.com/office/drawing/2014/main" id="{205C282E-B56B-BDEC-FBEE-1CDAE4E72B65}"/>
              </a:ext>
            </a:extLst>
          </p:cNvPr>
          <p:cNvSpPr txBox="1"/>
          <p:nvPr/>
        </p:nvSpPr>
        <p:spPr>
          <a:xfrm>
            <a:off x="284480" y="1059139"/>
            <a:ext cx="11623040" cy="5732338"/>
          </a:xfrm>
          <a:prstGeom prst="rect">
            <a:avLst/>
          </a:prstGeom>
          <a:noFill/>
        </p:spPr>
        <p:txBody>
          <a:bodyPr wrap="square" rtlCol="0">
            <a:spAutoFit/>
          </a:bodyPr>
          <a:lstStyle/>
          <a:p>
            <a:r>
              <a:rPr lang="en-US" sz="2400" b="1" dirty="0"/>
              <a:t>1. Introduction</a:t>
            </a:r>
            <a:endParaRPr lang="en-US" sz="2400" dirty="0"/>
          </a:p>
          <a:p>
            <a:r>
              <a:rPr lang="en-US" dirty="0"/>
              <a:t>This project focuses on leveraging data analytics and statistical modeling to understand patient behavior and healthcare utilization. Using a comprehensive dataset of 5,190 patients, the project analyzes how demographics, socioeconomic status, and health indicators interact to influence the frequency of doctor visits and functional health outcomes. The insights generated from this project are designed to assist healthcare administrators, insurance providers, and policymakers in optimizing medical resource allocation, designing targeted public health interventions, and refining insurance subsidy frameworks.</a:t>
            </a:r>
          </a:p>
          <a:p>
            <a:endParaRPr lang="en-US" sz="2400" dirty="0"/>
          </a:p>
          <a:p>
            <a:r>
              <a:rPr lang="en-US" sz="2000" b="1" dirty="0"/>
              <a:t>2. Dataset Architecture &amp; Variables</a:t>
            </a:r>
            <a:br>
              <a:rPr lang="en-US" sz="1100" dirty="0"/>
            </a:br>
            <a:r>
              <a:rPr lang="en-US" dirty="0"/>
              <a:t>The primary data is ingested from a Healthcare Analytics for Doctor Visits.csv file, consisting of 5,190 rows and 13 columns with no missing entries. The variables are structured as follows:</a:t>
            </a:r>
            <a:br>
              <a:rPr lang="en-US" dirty="0"/>
            </a:br>
            <a:r>
              <a:rPr lang="en-US" b="1" dirty="0"/>
              <a:t>Target Variable</a:t>
            </a:r>
            <a:br>
              <a:rPr lang="en-US" dirty="0"/>
            </a:br>
            <a:r>
              <a:rPr lang="en-US" dirty="0"/>
              <a:t>• </a:t>
            </a:r>
            <a:r>
              <a:rPr lang="en-US" b="1" dirty="0"/>
              <a:t>visits: </a:t>
            </a:r>
            <a:r>
              <a:rPr lang="en-US" dirty="0"/>
              <a:t>The number of doctor visits recorded for a patient over a specific period (ranging from 0 to 9).</a:t>
            </a:r>
            <a:br>
              <a:rPr lang="en-US" dirty="0"/>
            </a:br>
            <a:r>
              <a:rPr lang="en-US" b="1" dirty="0"/>
              <a:t>Demographic &amp; Socioeconomic Features</a:t>
            </a:r>
            <a:br>
              <a:rPr lang="en-US" dirty="0"/>
            </a:br>
            <a:r>
              <a:rPr lang="en-US" dirty="0"/>
              <a:t>• </a:t>
            </a:r>
            <a:r>
              <a:rPr lang="en-US" b="1" dirty="0"/>
              <a:t>gender: </a:t>
            </a:r>
            <a:r>
              <a:rPr lang="en-US" dirty="0"/>
              <a:t>Categorical variable (female, male).</a:t>
            </a:r>
            <a:br>
              <a:rPr lang="en-US" dirty="0"/>
            </a:br>
            <a:r>
              <a:rPr lang="en-US" dirty="0"/>
              <a:t>• </a:t>
            </a:r>
            <a:r>
              <a:rPr lang="en-US" b="1" dirty="0"/>
              <a:t>age: </a:t>
            </a:r>
            <a:r>
              <a:rPr lang="en-US" dirty="0"/>
              <a:t>Normalized continuous variable representing the age of the patient.</a:t>
            </a:r>
            <a:br>
              <a:rPr lang="en-US" dirty="0"/>
            </a:br>
            <a:r>
              <a:rPr lang="en-US" b="1" dirty="0"/>
              <a:t>Health Status Indicators</a:t>
            </a:r>
            <a:br>
              <a:rPr lang="en-US" b="1" dirty="0"/>
            </a:br>
            <a:r>
              <a:rPr lang="en-US" dirty="0"/>
              <a:t>• </a:t>
            </a:r>
            <a:r>
              <a:rPr lang="en-US" b="1" dirty="0"/>
              <a:t>illness: </a:t>
            </a:r>
            <a:r>
              <a:rPr lang="en-US" dirty="0"/>
              <a:t>An ordinal score (0 to 5) indicating the number of illnesses experienced by the patient.</a:t>
            </a:r>
            <a:br>
              <a:rPr lang="en-US" dirty="0"/>
            </a:br>
            <a:r>
              <a:rPr lang="en-US" dirty="0"/>
              <a:t>• </a:t>
            </a:r>
            <a:r>
              <a:rPr lang="en-US" b="1" dirty="0"/>
              <a:t>reduced: </a:t>
            </a:r>
            <a:r>
              <a:rPr lang="en-US" dirty="0"/>
              <a:t>The number of days the patient's activity was reduced due to illness (ranging from 0 to 14 days).</a:t>
            </a:r>
            <a:br>
              <a:rPr lang="en-US" sz="1050" dirty="0"/>
            </a:br>
            <a:endParaRPr lang="en-US" sz="105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DDA86C-2AAC-77F7-89EF-6D91FFC42825}"/>
              </a:ext>
            </a:extLst>
          </p:cNvPr>
          <p:cNvSpPr txBox="1"/>
          <p:nvPr/>
        </p:nvSpPr>
        <p:spPr>
          <a:xfrm>
            <a:off x="416560" y="203201"/>
            <a:ext cx="11348720" cy="5909310"/>
          </a:xfrm>
          <a:prstGeom prst="rect">
            <a:avLst/>
          </a:prstGeom>
          <a:noFill/>
        </p:spPr>
        <p:txBody>
          <a:bodyPr wrap="square" rtlCol="0">
            <a:spAutoFit/>
          </a:bodyPr>
          <a:lstStyle/>
          <a:p>
            <a:r>
              <a:rPr lang="en-US" b="1" dirty="0"/>
              <a:t>Insurance, Benefits, &amp; Chronic Conditions</a:t>
            </a:r>
          </a:p>
          <a:p>
            <a:r>
              <a:rPr lang="en-US" dirty="0"/>
              <a:t>• </a:t>
            </a:r>
            <a:r>
              <a:rPr lang="en-US" b="1" dirty="0"/>
              <a:t>Private: </a:t>
            </a:r>
            <a:r>
              <a:rPr lang="en-US" dirty="0"/>
              <a:t>Binary status (yes, no) indicating whether the patient has private health insurance.</a:t>
            </a:r>
          </a:p>
          <a:p>
            <a:r>
              <a:rPr lang="en-US" dirty="0"/>
              <a:t>• </a:t>
            </a:r>
            <a:r>
              <a:rPr lang="en-US" b="1" dirty="0" err="1"/>
              <a:t>Freepoor</a:t>
            </a:r>
            <a:r>
              <a:rPr lang="en-US" b="1" dirty="0"/>
              <a:t>: </a:t>
            </a:r>
            <a:r>
              <a:rPr lang="en-US" dirty="0"/>
              <a:t>Binary status (yes, no) indicating government-subsidized free healthcare due to low income.</a:t>
            </a:r>
          </a:p>
          <a:p>
            <a:r>
              <a:rPr lang="en-US" dirty="0"/>
              <a:t>• </a:t>
            </a:r>
            <a:r>
              <a:rPr lang="en-US" b="1" dirty="0" err="1"/>
              <a:t>Freerepat</a:t>
            </a:r>
            <a:r>
              <a:rPr lang="en-US" b="1" dirty="0"/>
              <a:t>: </a:t>
            </a:r>
            <a:r>
              <a:rPr lang="en-US" dirty="0"/>
              <a:t>Binary status (yes, no) indicating government-subsidized free healthcare due to old age, disability, or veteran status.</a:t>
            </a:r>
          </a:p>
          <a:p>
            <a:r>
              <a:rPr lang="en-US" dirty="0"/>
              <a:t>• </a:t>
            </a:r>
            <a:r>
              <a:rPr lang="en-US" b="1" dirty="0" err="1"/>
              <a:t>Nchronic</a:t>
            </a:r>
            <a:r>
              <a:rPr lang="en-US" b="1" dirty="0"/>
              <a:t> / </a:t>
            </a:r>
            <a:r>
              <a:rPr lang="en-US" b="1" dirty="0" err="1"/>
              <a:t>Lchronic</a:t>
            </a:r>
            <a:r>
              <a:rPr lang="en-US" b="1" dirty="0"/>
              <a:t>: </a:t>
            </a:r>
            <a:r>
              <a:rPr lang="en-US" dirty="0"/>
              <a:t>Binary indicators (yes, no) signifying whether the patient suffers from non-chronic or long-term chronic medical conditions.</a:t>
            </a:r>
          </a:p>
          <a:p>
            <a:endParaRPr lang="en-US" dirty="0"/>
          </a:p>
          <a:p>
            <a:r>
              <a:rPr lang="en-US" b="1" dirty="0"/>
              <a:t>3. Analytical Workflow &amp; Methodology</a:t>
            </a:r>
          </a:p>
          <a:p>
            <a:r>
              <a:rPr lang="en-US" dirty="0"/>
              <a:t>The project implements a structured data science pipeline divided into three major stages:</a:t>
            </a:r>
          </a:p>
          <a:p>
            <a:endParaRPr lang="en-US" dirty="0"/>
          </a:p>
          <a:p>
            <a:r>
              <a:rPr lang="en-US" b="1" dirty="0"/>
              <a:t>Phase 1: Exploratory Data Analysis (EDA) &amp; Data Quality Assessment</a:t>
            </a:r>
            <a:endParaRPr lang="en-US" dirty="0"/>
          </a:p>
          <a:p>
            <a:r>
              <a:rPr lang="en-US" dirty="0"/>
              <a:t>• </a:t>
            </a:r>
            <a:r>
              <a:rPr lang="en-US" b="1" dirty="0"/>
              <a:t>Null Value Scanning: </a:t>
            </a:r>
            <a:r>
              <a:rPr lang="en-US" dirty="0"/>
              <a:t>Verified that the dataset contains a 100% completion rate across all columns, ensuring high internal validity without the need for data imputation.</a:t>
            </a:r>
          </a:p>
          <a:p>
            <a:r>
              <a:rPr lang="en-US" dirty="0"/>
              <a:t>• </a:t>
            </a:r>
            <a:r>
              <a:rPr lang="en-US" b="1" dirty="0"/>
              <a:t>Univariate Analysis: </a:t>
            </a:r>
            <a:r>
              <a:rPr lang="en-US" dirty="0"/>
              <a:t>Analyzed value distributions for health indicators, medical visits, and demographic splits.</a:t>
            </a:r>
          </a:p>
          <a:p>
            <a:r>
              <a:rPr lang="en-US" dirty="0"/>
              <a:t>• </a:t>
            </a:r>
            <a:r>
              <a:rPr lang="en-US" b="1" dirty="0"/>
              <a:t>Multivariate &amp; Group Segmentation: </a:t>
            </a:r>
            <a:r>
              <a:rPr lang="en-US" dirty="0"/>
              <a:t>Grouped variables to discover specific societal trends, such as evaluating how financial metrics (income) map against health insurance types, or how gender impacts functional productivity days (reduced).</a:t>
            </a:r>
          </a:p>
          <a:p>
            <a:r>
              <a:rPr lang="en-US" dirty="0"/>
              <a:t>• </a:t>
            </a:r>
            <a:r>
              <a:rPr lang="en-US" b="1" dirty="0"/>
              <a:t>Correlation Mapping: </a:t>
            </a:r>
            <a:r>
              <a:rPr lang="en-US" dirty="0"/>
              <a:t>Plotted a comprehensive correlation heatmap using Spearman/Pearson coefficients to identify multi-collinearity and gauge the linear impact of variables on the target metric (visits).</a:t>
            </a:r>
          </a:p>
        </p:txBody>
      </p:sp>
    </p:spTree>
    <p:extLst>
      <p:ext uri="{BB962C8B-B14F-4D97-AF65-F5344CB8AC3E}">
        <p14:creationId xmlns:p14="http://schemas.microsoft.com/office/powerpoint/2010/main" val="202920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630856-67FE-168D-5AE0-369351E5B200}"/>
              </a:ext>
            </a:extLst>
          </p:cNvPr>
          <p:cNvSpPr txBox="1"/>
          <p:nvPr/>
        </p:nvSpPr>
        <p:spPr>
          <a:xfrm>
            <a:off x="355600" y="182881"/>
            <a:ext cx="11836400" cy="6186309"/>
          </a:xfrm>
          <a:prstGeom prst="rect">
            <a:avLst/>
          </a:prstGeom>
          <a:noFill/>
        </p:spPr>
        <p:txBody>
          <a:bodyPr wrap="square" rtlCol="0">
            <a:spAutoFit/>
          </a:bodyPr>
          <a:lstStyle/>
          <a:p>
            <a:r>
              <a:rPr lang="en-US" b="1" dirty="0"/>
              <a:t>Phase 2: Core Data Insights &amp; Breakthrough Findings</a:t>
            </a:r>
          </a:p>
          <a:p>
            <a:r>
              <a:rPr lang="en-US" dirty="0"/>
              <a:t>• The Insurance Coverage Gap: Pie-chart distributions revealed a significant gap in the healthcare safety net. While only 10.1% of patients receive free medical care due to low income, and only 21.0% qualify via old age/disability, over half the population (55.7%) lacks private insurance. This highlights a massive "missing middle" segment vulnerable to sudden medical costs.</a:t>
            </a:r>
          </a:p>
          <a:p>
            <a:r>
              <a:rPr lang="en-US" dirty="0"/>
              <a:t>• Gender-Based Productivity Vulnerabilities: Aggregation showed that females suffer far more functional limitations from health dips than males. Females logged total reduced activity days significantly higher than males, translating to an average of 0.98 reduced days per female compared to 0.74 days per male.</a:t>
            </a:r>
          </a:p>
          <a:p>
            <a:r>
              <a:rPr lang="en-US" dirty="0"/>
              <a:t>• Illness-to-Visit Elasticity: Line graphs mapping illness scores directly against mean clinical visits established a predictable upward curve.</a:t>
            </a:r>
          </a:p>
          <a:p>
            <a:r>
              <a:rPr lang="en-US" dirty="0"/>
              <a:t>Patients with an illness score of 0 average only 0.08 visits, whereas patients with an illness score of 5 skyrocket to 0.81 visits, confirming illness as a heavy primary feature for predictive models.</a:t>
            </a:r>
            <a:br>
              <a:rPr lang="en-US" dirty="0"/>
            </a:br>
            <a:br>
              <a:rPr lang="en-US" dirty="0"/>
            </a:br>
            <a:r>
              <a:rPr lang="en-US" b="1" dirty="0"/>
              <a:t>Phase 3: Next Steps &amp; Advanced Implementations (Roadmap)</a:t>
            </a:r>
            <a:br>
              <a:rPr lang="en-US" dirty="0"/>
            </a:br>
            <a:r>
              <a:rPr lang="en-US" dirty="0"/>
              <a:t>• Feature Engineering: Binning continuous variables (age, income) into specific socio-demographic brackets to uncover non-linear patterns.</a:t>
            </a:r>
            <a:br>
              <a:rPr lang="en-US" dirty="0"/>
            </a:br>
            <a:r>
              <a:rPr lang="en-US" dirty="0"/>
              <a:t>• Predictive Modeling: Developing a Count Regression framework (such as a Poisson or Negative Binomial regression model, or Random Forest Regressor) optimized to handle the discrete, right-skewed nature of the visits variable.</a:t>
            </a:r>
            <a:br>
              <a:rPr lang="en-US" dirty="0"/>
            </a:br>
            <a:r>
              <a:rPr lang="en-US" dirty="0"/>
              <a:t>• Statistical Testing: Deploying Two-Sample T-tests and Chi-Square tests to validate that the variations in health vulnerabilities across genders and income groups are statistically significant and not a product of random chance.</a:t>
            </a:r>
          </a:p>
        </p:txBody>
      </p:sp>
    </p:spTree>
    <p:extLst>
      <p:ext uri="{BB962C8B-B14F-4D97-AF65-F5344CB8AC3E}">
        <p14:creationId xmlns:p14="http://schemas.microsoft.com/office/powerpoint/2010/main" val="3729262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51069" y="151447"/>
            <a:ext cx="6228081" cy="847817"/>
          </a:xfrm>
        </p:spPr>
        <p:txBody>
          <a:bodyPr>
            <a:normAutofit fontScale="90000"/>
          </a:bodyPr>
          <a:lstStyle/>
          <a:p>
            <a:r>
              <a:rPr lang="en-US" dirty="0"/>
              <a:t>Who are the end users</a:t>
            </a:r>
          </a:p>
        </p:txBody>
      </p:sp>
      <p:sp>
        <p:nvSpPr>
          <p:cNvPr id="5" name="Text Placeholder 4">
            <a:extLst>
              <a:ext uri="{FF2B5EF4-FFF2-40B4-BE49-F238E27FC236}">
                <a16:creationId xmlns:a16="http://schemas.microsoft.com/office/drawing/2014/main" id="{88AD82D9-C241-8A0F-F1AB-0B09DDC3DD54}"/>
              </a:ext>
            </a:extLst>
          </p:cNvPr>
          <p:cNvSpPr txBox="1">
            <a:spLocks noGrp="1"/>
          </p:cNvSpPr>
          <p:nvPr>
            <p:ph type="body" sz="quarter" idx="12"/>
          </p:nvPr>
        </p:nvSpPr>
        <p:spPr>
          <a:xfrm>
            <a:off x="467359" y="999264"/>
            <a:ext cx="11578461" cy="5356274"/>
          </a:xfrm>
          <a:prstGeom prst="rect">
            <a:avLst/>
          </a:prstGeom>
          <a:noFill/>
        </p:spPr>
        <p:txBody>
          <a:bodyPr wrap="square" rtlCol="0">
            <a:spAutoFit/>
          </a:bodyPr>
          <a:lstStyle/>
          <a:p>
            <a:r>
              <a:rPr lang="en-US" sz="1800" b="1" dirty="0"/>
              <a:t>1. Healthcare Administrators and Hospital Managers</a:t>
            </a:r>
            <a:br>
              <a:rPr lang="en-US" sz="1600" dirty="0"/>
            </a:br>
            <a:r>
              <a:rPr lang="en-US" sz="1600" dirty="0"/>
              <a:t>• How they use it: To predict patient inflow and plan hospital staffing, bed capacity, and clinical resources.</a:t>
            </a:r>
            <a:br>
              <a:rPr lang="en-US" sz="1600" dirty="0"/>
            </a:br>
            <a:r>
              <a:rPr lang="en-US" sz="1600" dirty="0"/>
              <a:t>• Key benefit: They can use the model to anticipate spikes in doctor visits from heavily vulnerable patient segments (e.g., those with high illness scores or chronic conditions) and reduce wait times.</a:t>
            </a:r>
            <a:br>
              <a:rPr lang="en-US" sz="1600" dirty="0"/>
            </a:br>
            <a:r>
              <a:rPr lang="en-US" sz="1800" b="1" dirty="0"/>
              <a:t>2. Public Health Officials and Policymakers</a:t>
            </a:r>
            <a:br>
              <a:rPr lang="en-US" sz="1600" dirty="0"/>
            </a:br>
            <a:r>
              <a:rPr lang="en-US" sz="1600" dirty="0"/>
              <a:t>• How they use it: To design targeted healthcare safety nets, subsidies, and outreach programs.</a:t>
            </a:r>
            <a:br>
              <a:rPr lang="en-US" sz="1600" dirty="0"/>
            </a:br>
            <a:r>
              <a:rPr lang="en-US" sz="1600" dirty="0"/>
              <a:t>• Key benefit: The data exposes the "missing middle"—the 55.7% of citizens who have no private insurance but do not qualify for low-income or elderly government aid. Policymakers can use these insights to adjust qualifying thresholds for programs like </a:t>
            </a:r>
            <a:r>
              <a:rPr lang="en-US" sz="1600" dirty="0" err="1"/>
              <a:t>freepoor</a:t>
            </a:r>
            <a:r>
              <a:rPr lang="en-US" sz="1600" dirty="0"/>
              <a:t> or </a:t>
            </a:r>
            <a:r>
              <a:rPr lang="en-US" sz="1600" dirty="0" err="1"/>
              <a:t>freerepat</a:t>
            </a:r>
            <a:r>
              <a:rPr lang="en-US" sz="1600" dirty="0"/>
              <a:t>.</a:t>
            </a:r>
            <a:br>
              <a:rPr lang="en-US" sz="1600" dirty="0"/>
            </a:br>
            <a:r>
              <a:rPr lang="en-US" sz="1800" b="1" dirty="0"/>
              <a:t>3. Corporate HR and Occupational Health Managers</a:t>
            </a:r>
            <a:br>
              <a:rPr lang="en-US" sz="1600" dirty="0"/>
            </a:br>
            <a:r>
              <a:rPr lang="en-US" sz="1600" dirty="0"/>
              <a:t>• How they use it: To manage workforce productivity and wellness benefits.</a:t>
            </a:r>
            <a:br>
              <a:rPr lang="en-US" sz="1600" dirty="0"/>
            </a:br>
            <a:r>
              <a:rPr lang="en-US" sz="1600" dirty="0"/>
              <a:t>• Key benefit: Because the project highlights that women face higher rates of reduced activity days due to illness (0.98 days vs. 0.74 days for men), corporate end-users can tailor specialized employee wellness programs or flexible leave policies to address these specific demographic health vulnerabilities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A4C7644-4320-9D08-3327-2F3C5C87F14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03E1884-212C-5013-0BFC-C7161A2AFBD8}"/>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501E0224-8E02-492E-ADBF-3235D8EE8630}"/>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94529755-F635-C35A-3398-51A560DBF727}"/>
              </a:ext>
            </a:extLst>
          </p:cNvPr>
          <p:cNvSpPr>
            <a:spLocks noGrp="1"/>
          </p:cNvSpPr>
          <p:nvPr>
            <p:ph type="body" sz="quarter" idx="12"/>
          </p:nvPr>
        </p:nvSpPr>
        <p:spPr>
          <a:xfrm>
            <a:off x="894080" y="1432560"/>
            <a:ext cx="9540240" cy="5243448"/>
          </a:xfrm>
        </p:spPr>
        <p:txBody>
          <a:bodyPr>
            <a:normAutofit fontScale="77500" lnSpcReduction="20000"/>
          </a:bodyPr>
          <a:lstStyle/>
          <a:p>
            <a:pPr lvl="1">
              <a:lnSpc>
                <a:spcPct val="100000"/>
              </a:lnSpc>
            </a:pPr>
            <a:r>
              <a:rPr lang="en-US" dirty="0"/>
              <a:t>This data science project is built primarily on the Python ecosystem, leveraging robust open-source libraries within an integrated development environment.</a:t>
            </a:r>
            <a:br>
              <a:rPr lang="en-US" dirty="0"/>
            </a:br>
            <a:br>
              <a:rPr lang="en-US" sz="2600" dirty="0"/>
            </a:br>
            <a:r>
              <a:rPr lang="en-US" sz="2600" b="1" dirty="0"/>
              <a:t>1. Programming Language &amp; Platform</a:t>
            </a:r>
            <a:br>
              <a:rPr lang="en-US" dirty="0"/>
            </a:br>
            <a:br>
              <a:rPr lang="en-US" dirty="0"/>
            </a:br>
            <a:r>
              <a:rPr lang="en-US" sz="2300" b="1" dirty="0"/>
              <a:t>• Python: </a:t>
            </a:r>
            <a:r>
              <a:rPr lang="en-US" dirty="0"/>
              <a:t>The foundational language used for data manipulation, analysis, and visualization.</a:t>
            </a:r>
            <a:br>
              <a:rPr lang="en-US" dirty="0"/>
            </a:br>
            <a:r>
              <a:rPr lang="en-US" sz="2300" b="1" dirty="0"/>
              <a:t>• Jupyter Notebook / Google </a:t>
            </a:r>
            <a:r>
              <a:rPr lang="en-US" sz="2300" b="1" dirty="0" err="1"/>
              <a:t>Colab</a:t>
            </a:r>
            <a:r>
              <a:rPr lang="en-US" sz="2300" b="1" dirty="0"/>
              <a:t>: </a:t>
            </a:r>
            <a:r>
              <a:rPr lang="en-US" dirty="0"/>
              <a:t>The cloud-based and local interactive computing environments used to write code, display output datasets, and visualize real-time graph renders.</a:t>
            </a:r>
            <a:br>
              <a:rPr lang="en-US" dirty="0"/>
            </a:br>
            <a:br>
              <a:rPr lang="en-US" sz="2600" b="1" dirty="0"/>
            </a:br>
            <a:r>
              <a:rPr lang="en-US" sz="2600" b="1" dirty="0"/>
              <a:t>2. Core Data Science Libraries (Python)</a:t>
            </a:r>
            <a:br>
              <a:rPr lang="en-US" dirty="0"/>
            </a:br>
            <a:br>
              <a:rPr lang="en-US" dirty="0"/>
            </a:br>
            <a:r>
              <a:rPr lang="en-US" sz="2300" b="1" dirty="0"/>
              <a:t>• Pandas: </a:t>
            </a:r>
            <a:r>
              <a:rPr lang="en-US" dirty="0"/>
              <a:t>Used for data manipulation, ingestion, cleaning, mapping categorical string data, and row/column slicing (e.g., executing .info(), .describe(), .</a:t>
            </a:r>
            <a:r>
              <a:rPr lang="en-US" dirty="0" err="1"/>
              <a:t>isnull</a:t>
            </a:r>
            <a:r>
              <a:rPr lang="en-US" dirty="0"/>
              <a:t>().sum(), and .</a:t>
            </a:r>
            <a:r>
              <a:rPr lang="en-US" dirty="0" err="1"/>
              <a:t>groupby</a:t>
            </a:r>
            <a:r>
              <a:rPr lang="en-US" dirty="0"/>
              <a:t>()).</a:t>
            </a:r>
            <a:br>
              <a:rPr lang="en-US" dirty="0"/>
            </a:br>
            <a:r>
              <a:rPr lang="en-US" sz="2300" b="1" dirty="0"/>
              <a:t>• NumPy: </a:t>
            </a:r>
            <a:r>
              <a:rPr lang="en-US" dirty="0"/>
              <a:t>Employed for background scientific computing, vectorization, and handling mathematical operations on arrays and structural data.</a:t>
            </a:r>
            <a:br>
              <a:rPr lang="en-US" dirty="0"/>
            </a:br>
            <a:r>
              <a:rPr lang="en-US" sz="2300" b="1" dirty="0"/>
              <a:t>• Matplotlib: </a:t>
            </a:r>
            <a:r>
              <a:rPr lang="en-US" dirty="0"/>
              <a:t>The underlying data visualization library used to configure the canvas sizes, chart titles, layouts, and label alignments.</a:t>
            </a:r>
            <a:br>
              <a:rPr lang="en-US" dirty="0"/>
            </a:br>
            <a:r>
              <a:rPr lang="en-US" sz="2300" b="1" dirty="0"/>
              <a:t>• Seaborn: </a:t>
            </a:r>
            <a:r>
              <a:rPr lang="en-US" dirty="0"/>
              <a:t>Built on top of Matplotlib, this was specifically used to construct high-level, statistically sound graphs such as:</a:t>
            </a:r>
            <a:br>
              <a:rPr lang="en-US" dirty="0"/>
            </a:br>
            <a:r>
              <a:rPr lang="en-US" dirty="0"/>
              <a:t>• </a:t>
            </a:r>
            <a:r>
              <a:rPr lang="en-US" dirty="0" err="1"/>
              <a:t>sns.histplot</a:t>
            </a:r>
            <a:r>
              <a:rPr lang="en-US" dirty="0"/>
              <a:t> and </a:t>
            </a:r>
            <a:r>
              <a:rPr lang="en-US" dirty="0" err="1"/>
              <a:t>sns.countplot</a:t>
            </a:r>
            <a:r>
              <a:rPr lang="en-US" dirty="0"/>
              <a:t> (for demographic distributions).</a:t>
            </a:r>
            <a:br>
              <a:rPr lang="en-US" dirty="0"/>
            </a:br>
            <a:r>
              <a:rPr lang="en-US" dirty="0"/>
              <a:t>• </a:t>
            </a:r>
            <a:r>
              <a:rPr lang="en-US" dirty="0" err="1"/>
              <a:t>sns.barplot</a:t>
            </a:r>
            <a:r>
              <a:rPr lang="en-US" dirty="0"/>
              <a:t> (to aggregate metric categories).</a:t>
            </a:r>
            <a:br>
              <a:rPr lang="en-US" dirty="0"/>
            </a:br>
            <a:r>
              <a:rPr lang="en-US" dirty="0"/>
              <a:t>• </a:t>
            </a:r>
            <a:r>
              <a:rPr lang="en-US" dirty="0" err="1"/>
              <a:t>sns.heatmap</a:t>
            </a:r>
            <a:r>
              <a:rPr lang="en-US" dirty="0"/>
              <a:t> (to audit null entries and output the correlation matrices).</a:t>
            </a:r>
            <a:endParaRPr lang="en-IN" dirty="0"/>
          </a:p>
        </p:txBody>
      </p:sp>
      <p:sp>
        <p:nvSpPr>
          <p:cNvPr id="9" name="Title 8">
            <a:extLst>
              <a:ext uri="{FF2B5EF4-FFF2-40B4-BE49-F238E27FC236}">
                <a16:creationId xmlns:a16="http://schemas.microsoft.com/office/drawing/2014/main" id="{CCFF94B0-5714-8B58-44F6-57FB10655619}"/>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00271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D153020-F0A7-4664-4F00-AB6B7F67B77D}"/>
              </a:ext>
            </a:extLst>
          </p:cNvPr>
          <p:cNvPicPr>
            <a:picLocks noChangeAspect="1"/>
          </p:cNvPicPr>
          <p:nvPr/>
        </p:nvPicPr>
        <p:blipFill>
          <a:blip r:embed="rId3"/>
          <a:stretch>
            <a:fillRect/>
          </a:stretch>
        </p:blipFill>
        <p:spPr>
          <a:xfrm>
            <a:off x="675957" y="1275371"/>
            <a:ext cx="8334541" cy="465057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18EFF0D-665B-8829-170B-8549E07CD2D3}"/>
              </a:ext>
            </a:extLst>
          </p:cNvPr>
          <p:cNvPicPr>
            <a:picLocks noChangeAspect="1"/>
          </p:cNvPicPr>
          <p:nvPr/>
        </p:nvPicPr>
        <p:blipFill>
          <a:blip r:embed="rId3"/>
          <a:stretch>
            <a:fillRect/>
          </a:stretch>
        </p:blipFill>
        <p:spPr>
          <a:xfrm>
            <a:off x="0" y="1201586"/>
            <a:ext cx="10354200" cy="383777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62BFACA5-9B17-49E3-57E1-5D96DEDB87E2}"/>
              </a:ext>
            </a:extLst>
          </p:cNvPr>
          <p:cNvPicPr>
            <a:picLocks noChangeAspect="1"/>
          </p:cNvPicPr>
          <p:nvPr/>
        </p:nvPicPr>
        <p:blipFill>
          <a:blip r:embed="rId3"/>
          <a:stretch>
            <a:fillRect/>
          </a:stretch>
        </p:blipFill>
        <p:spPr>
          <a:xfrm>
            <a:off x="675957" y="1545363"/>
            <a:ext cx="9534843" cy="314855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AB0FC135-41B6-1EFC-A2E1-789ACD852157}"/>
              </a:ext>
            </a:extLst>
          </p:cNvPr>
          <p:cNvPicPr>
            <a:picLocks noChangeAspect="1"/>
          </p:cNvPicPr>
          <p:nvPr/>
        </p:nvPicPr>
        <p:blipFill>
          <a:blip r:embed="rId3"/>
          <a:stretch>
            <a:fillRect/>
          </a:stretch>
        </p:blipFill>
        <p:spPr>
          <a:xfrm>
            <a:off x="1391921" y="1244655"/>
            <a:ext cx="6979920" cy="522726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8BCCD52-8E07-57B2-DE79-0982EADFDC67}"/>
              </a:ext>
            </a:extLst>
          </p:cNvPr>
          <p:cNvPicPr>
            <a:picLocks noChangeAspect="1"/>
          </p:cNvPicPr>
          <p:nvPr/>
        </p:nvPicPr>
        <p:blipFill>
          <a:blip r:embed="rId3"/>
          <a:stretch>
            <a:fillRect/>
          </a:stretch>
        </p:blipFill>
        <p:spPr>
          <a:xfrm>
            <a:off x="675956" y="1313180"/>
            <a:ext cx="7513003" cy="515874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260B76AE-5C29-9F8F-E822-81D2EE0EE1A6}"/>
              </a:ext>
            </a:extLst>
          </p:cNvPr>
          <p:cNvSpPr txBox="1"/>
          <p:nvPr/>
        </p:nvSpPr>
        <p:spPr>
          <a:xfrm>
            <a:off x="675957" y="1249679"/>
            <a:ext cx="10235883" cy="5139869"/>
          </a:xfrm>
          <a:prstGeom prst="rect">
            <a:avLst/>
          </a:prstGeom>
          <a:noFill/>
        </p:spPr>
        <p:txBody>
          <a:bodyPr wrap="square">
            <a:spAutoFit/>
          </a:bodyPr>
          <a:lstStyle/>
          <a:p>
            <a:r>
              <a:rPr lang="en-US" sz="2000" b="1" dirty="0"/>
              <a:t>1. Predictive &amp; Prescriptive Advanced Modeling</a:t>
            </a:r>
            <a:br>
              <a:rPr lang="en-US" dirty="0"/>
            </a:br>
            <a:br>
              <a:rPr lang="en-US" dirty="0"/>
            </a:br>
            <a:r>
              <a:rPr lang="en-US" b="1" dirty="0"/>
              <a:t>• Advanced Regressors: </a:t>
            </a:r>
            <a:r>
              <a:rPr lang="en-US" dirty="0"/>
              <a:t>Implement Machine Learning models (such as Poisson regression, Negative Binomial regression, Random Forest, or </a:t>
            </a:r>
            <a:r>
              <a:rPr lang="en-US" dirty="0" err="1"/>
              <a:t>XGBoost</a:t>
            </a:r>
            <a:r>
              <a:rPr lang="en-US" dirty="0"/>
              <a:t>) specifically optimized to forecast discrete clinical visits based on patient health matrices.</a:t>
            </a:r>
            <a:br>
              <a:rPr lang="en-US" dirty="0"/>
            </a:br>
            <a:r>
              <a:rPr lang="en-US" dirty="0"/>
              <a:t>• No-Show and Readmission Risk Modeling: Integrate patient appointment histories to train classification algorithms that flag high-risk individuals prone to missing visits or requiring immediate secondary admission.</a:t>
            </a:r>
            <a:br>
              <a:rPr lang="en-US" dirty="0"/>
            </a:br>
            <a:br>
              <a:rPr lang="en-US" dirty="0"/>
            </a:br>
            <a:r>
              <a:rPr lang="en-US" sz="2000" b="1" dirty="0"/>
              <a:t>2. IoT &amp; Real-Time Data Streaming Integrations</a:t>
            </a:r>
            <a:br>
              <a:rPr lang="en-US" dirty="0"/>
            </a:br>
            <a:br>
              <a:rPr lang="en-US" dirty="0"/>
            </a:br>
            <a:r>
              <a:rPr lang="en-US" b="1" dirty="0"/>
              <a:t>• Wearable and Remote Monitoring Stream: </a:t>
            </a:r>
            <a:r>
              <a:rPr lang="en-US" dirty="0"/>
              <a:t>Connect real-time telemetric data feeds from personal health trackers (e.g., smartwatches monitoring heart rates, sleep cycles, and daily active steps) to instantly adjust the functional deficit metric (reduced) dynamically, rather than relying on delayed patient self-reporting.</a:t>
            </a:r>
            <a:br>
              <a:rPr lang="en-US" dirty="0"/>
            </a:br>
            <a:r>
              <a:rPr lang="en-US" b="1" dirty="0"/>
              <a:t>• Instant Risk Flagging: </a:t>
            </a:r>
            <a:r>
              <a:rPr lang="en-US" dirty="0"/>
              <a:t>Upgrade the backend framework to compute automated triage notifications, triggering high-priority alerts to healthcare managers when an uninsured, high-risk, multi-illness profile exhibits critical degradation patterns.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D74F2CD-D9E9-E85D-0F02-712C9ACD0AE6}"/>
              </a:ext>
            </a:extLst>
          </p:cNvPr>
          <p:cNvPicPr>
            <a:picLocks noChangeAspect="1"/>
          </p:cNvPicPr>
          <p:nvPr/>
        </p:nvPicPr>
        <p:blipFill>
          <a:blip r:embed="rId3"/>
          <a:stretch>
            <a:fillRect/>
          </a:stretch>
        </p:blipFill>
        <p:spPr>
          <a:xfrm>
            <a:off x="1747519" y="1474296"/>
            <a:ext cx="7202845" cy="509414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 name="TextBox 1">
            <a:extLst>
              <a:ext uri="{FF2B5EF4-FFF2-40B4-BE49-F238E27FC236}">
                <a16:creationId xmlns:a16="http://schemas.microsoft.com/office/drawing/2014/main" id="{7D98921A-CF59-950E-8921-49C19ECA533C}"/>
              </a:ext>
            </a:extLst>
          </p:cNvPr>
          <p:cNvSpPr txBox="1"/>
          <p:nvPr/>
        </p:nvSpPr>
        <p:spPr>
          <a:xfrm>
            <a:off x="1800807" y="2332653"/>
            <a:ext cx="9060026" cy="461665"/>
          </a:xfrm>
          <a:prstGeom prst="rect">
            <a:avLst/>
          </a:prstGeom>
          <a:noFill/>
        </p:spPr>
        <p:txBody>
          <a:bodyPr wrap="square" rtlCol="0">
            <a:spAutoFit/>
          </a:bodyPr>
          <a:lstStyle/>
          <a:p>
            <a:r>
              <a:rPr lang="en-US" sz="2400" dirty="0" err="1"/>
              <a:t>Github</a:t>
            </a:r>
            <a:r>
              <a:rPr lang="en-US" sz="2400" dirty="0"/>
              <a:t> link- https://github.com/scriptedbyshivam/vois-x-tirtc</a:t>
            </a:r>
            <a:endParaRPr lang="en-IN" sz="24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687</TotalTime>
  <Words>1681</Words>
  <Application>Microsoft Office PowerPoint</Application>
  <PresentationFormat>Widescreen</PresentationFormat>
  <Paragraphs>48</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Healthcare Analytics for Doctor Visits: An Exploratory Data Analysis</vt:lpstr>
      <vt:lpstr>PROBLEM  STATEMENT</vt:lpstr>
      <vt:lpstr>Project Description </vt:lpstr>
      <vt:lpstr>PowerPoint Presentation</vt:lpstr>
      <vt:lpstr>PowerPoint Presentation</vt:lpstr>
      <vt:lpstr>Who are the end users</vt:lpstr>
      <vt:lpstr>Technology Used</vt:lpstr>
      <vt:lpstr>RESULTS </vt:lpstr>
      <vt:lpstr>RESULTS </vt:lpstr>
      <vt:lpstr>RESULTS </vt:lpstr>
      <vt:lpstr>RESULTS </vt:lpstr>
      <vt:lpstr>RESULTS </vt:lpstr>
      <vt:lpstr>Future scope</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Shivam Maurya</cp:lastModifiedBy>
  <cp:revision>101</cp:revision>
  <dcterms:created xsi:type="dcterms:W3CDTF">2021-07-11T13:13:15Z</dcterms:created>
  <dcterms:modified xsi:type="dcterms:W3CDTF">2026-10-22T17:35:17Z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